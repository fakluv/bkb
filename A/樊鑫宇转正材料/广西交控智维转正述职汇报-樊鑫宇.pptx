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4" r:id="rId3"/>
    <p:sldMasterId id="2147483668" r:id="rId4"/>
  </p:sldMasterIdLst>
  <p:notesMasterIdLst>
    <p:notesMasterId r:id="rId17"/>
  </p:notesMasterIdLst>
  <p:sldIdLst>
    <p:sldId id="256" r:id="rId5"/>
    <p:sldId id="1221" r:id="rId6"/>
    <p:sldId id="1232" r:id="rId7"/>
    <p:sldId id="1233" r:id="rId8"/>
    <p:sldId id="1234" r:id="rId9"/>
    <p:sldId id="1220" r:id="rId10"/>
    <p:sldId id="1224" r:id="rId11"/>
    <p:sldId id="1222" r:id="rId12"/>
    <p:sldId id="1225" r:id="rId13"/>
    <p:sldId id="1223" r:id="rId14"/>
    <p:sldId id="1226" r:id="rId15"/>
    <p:sldId id="1219" r:id="rId1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9" userDrawn="1">
          <p15:clr>
            <a:srgbClr val="A4A3A4"/>
          </p15:clr>
        </p15:guide>
        <p15:guide id="2" pos="27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" name="作者" initials="A" lastIdx="0" clrIdx="1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7"/>
    <a:srgbClr val="0064D2"/>
    <a:srgbClr val="FFFFFF"/>
    <a:srgbClr val="00B0EC"/>
    <a:srgbClr val="99C3F9"/>
    <a:srgbClr val="0A4E91"/>
    <a:srgbClr val="0070C0"/>
    <a:srgbClr val="10A1D8"/>
    <a:srgbClr val="0070FC"/>
    <a:srgbClr val="009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73" autoAdjust="0"/>
    <p:restoredTop sz="94660"/>
  </p:normalViewPr>
  <p:slideViewPr>
    <p:cSldViewPr showGuides="1">
      <p:cViewPr varScale="1">
        <p:scale>
          <a:sx n="90" d="100"/>
          <a:sy n="90" d="100"/>
        </p:scale>
        <p:origin x="1056" y="78"/>
      </p:cViewPr>
      <p:guideLst>
        <p:guide orient="horz" pos="1899"/>
        <p:guide pos="27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19234-F3BD-41FF-AF74-D1609BA291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0149D-9EDC-46A6-925E-8499BC893B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A3BA-09DF-4A38-917B-1ACD43FEB8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E26FA-E827-4DD1-9059-96430DC6EF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7"/>
          <p:cNvSpPr/>
          <p:nvPr userDrawn="1"/>
        </p:nvSpPr>
        <p:spPr>
          <a:xfrm>
            <a:off x="0" y="591147"/>
            <a:ext cx="6620979" cy="73529"/>
          </a:xfrm>
          <a:custGeom>
            <a:avLst/>
            <a:gdLst>
              <a:gd name="connsiteX0" fmla="*/ 0 w 8821621"/>
              <a:gd name="connsiteY0" fmla="*/ 0 h 98038"/>
              <a:gd name="connsiteX1" fmla="*/ 8723583 w 8821621"/>
              <a:gd name="connsiteY1" fmla="*/ 0 h 98038"/>
              <a:gd name="connsiteX2" fmla="*/ 8821621 w 8821621"/>
              <a:gd name="connsiteY2" fmla="*/ 98038 h 98038"/>
              <a:gd name="connsiteX3" fmla="*/ 0 w 8821621"/>
              <a:gd name="connsiteY3" fmla="*/ 98038 h 98038"/>
              <a:gd name="connsiteX4" fmla="*/ 0 w 8821621"/>
              <a:gd name="connsiteY4" fmla="*/ 0 h 9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21621" h="98038">
                <a:moveTo>
                  <a:pt x="0" y="0"/>
                </a:moveTo>
                <a:lnTo>
                  <a:pt x="8723583" y="0"/>
                </a:lnTo>
                <a:lnTo>
                  <a:pt x="8821621" y="98038"/>
                </a:lnTo>
                <a:lnTo>
                  <a:pt x="0" y="98038"/>
                </a:lnTo>
                <a:lnTo>
                  <a:pt x="0" y="0"/>
                </a:lnTo>
                <a:close/>
              </a:path>
            </a:pathLst>
          </a:custGeom>
          <a:solidFill>
            <a:srgbClr val="00B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/>
          </a:p>
        </p:txBody>
      </p:sp>
      <p:sp>
        <p:nvSpPr>
          <p:cNvPr id="19" name="任意多边形 18"/>
          <p:cNvSpPr/>
          <p:nvPr userDrawn="1"/>
        </p:nvSpPr>
        <p:spPr>
          <a:xfrm>
            <a:off x="8314223" y="591147"/>
            <a:ext cx="834541" cy="73529"/>
          </a:xfrm>
          <a:custGeom>
            <a:avLst/>
            <a:gdLst>
              <a:gd name="connsiteX0" fmla="*/ 98038 w 1112721"/>
              <a:gd name="connsiteY0" fmla="*/ 0 h 98038"/>
              <a:gd name="connsiteX1" fmla="*/ 1112721 w 1112721"/>
              <a:gd name="connsiteY1" fmla="*/ 0 h 98038"/>
              <a:gd name="connsiteX2" fmla="*/ 1112721 w 1112721"/>
              <a:gd name="connsiteY2" fmla="*/ 98038 h 98038"/>
              <a:gd name="connsiteX3" fmla="*/ 0 w 1112721"/>
              <a:gd name="connsiteY3" fmla="*/ 98038 h 98038"/>
              <a:gd name="connsiteX4" fmla="*/ 98038 w 1112721"/>
              <a:gd name="connsiteY4" fmla="*/ 0 h 9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2721" h="98038">
                <a:moveTo>
                  <a:pt x="98038" y="0"/>
                </a:moveTo>
                <a:lnTo>
                  <a:pt x="1112721" y="0"/>
                </a:lnTo>
                <a:lnTo>
                  <a:pt x="1112721" y="98038"/>
                </a:lnTo>
                <a:lnTo>
                  <a:pt x="0" y="98038"/>
                </a:lnTo>
                <a:lnTo>
                  <a:pt x="98038" y="0"/>
                </a:lnTo>
                <a:close/>
              </a:path>
            </a:pathLst>
          </a:custGeom>
          <a:solidFill>
            <a:srgbClr val="00B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/>
          </a:p>
        </p:txBody>
      </p:sp>
      <p:sp>
        <p:nvSpPr>
          <p:cNvPr id="20" name="任意多边形 19"/>
          <p:cNvSpPr/>
          <p:nvPr userDrawn="1"/>
        </p:nvSpPr>
        <p:spPr>
          <a:xfrm>
            <a:off x="6620978" y="664676"/>
            <a:ext cx="1693244" cy="30650"/>
          </a:xfrm>
          <a:custGeom>
            <a:avLst/>
            <a:gdLst>
              <a:gd name="connsiteX0" fmla="*/ 0 w 2257658"/>
              <a:gd name="connsiteY0" fmla="*/ 0 h 40866"/>
              <a:gd name="connsiteX1" fmla="*/ 2257658 w 2257658"/>
              <a:gd name="connsiteY1" fmla="*/ 0 h 40866"/>
              <a:gd name="connsiteX2" fmla="*/ 2216792 w 2257658"/>
              <a:gd name="connsiteY2" fmla="*/ 40866 h 40866"/>
              <a:gd name="connsiteX3" fmla="*/ 40866 w 2257658"/>
              <a:gd name="connsiteY3" fmla="*/ 40866 h 40866"/>
              <a:gd name="connsiteX4" fmla="*/ 0 w 2257658"/>
              <a:gd name="connsiteY4" fmla="*/ 0 h 4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7658" h="40866">
                <a:moveTo>
                  <a:pt x="0" y="0"/>
                </a:moveTo>
                <a:lnTo>
                  <a:pt x="2257658" y="0"/>
                </a:lnTo>
                <a:lnTo>
                  <a:pt x="2216792" y="40866"/>
                </a:lnTo>
                <a:lnTo>
                  <a:pt x="40866" y="40866"/>
                </a:lnTo>
                <a:lnTo>
                  <a:pt x="0" y="0"/>
                </a:lnTo>
                <a:close/>
              </a:path>
            </a:pathLst>
          </a:custGeom>
          <a:solidFill>
            <a:srgbClr val="D23C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直角三角形 20"/>
          <p:cNvSpPr/>
          <p:nvPr userDrawn="1"/>
        </p:nvSpPr>
        <p:spPr>
          <a:xfrm>
            <a:off x="0" y="262085"/>
            <a:ext cx="327119" cy="327119"/>
          </a:xfrm>
          <a:prstGeom prst="rtTriangle">
            <a:avLst/>
          </a:prstGeom>
          <a:solidFill>
            <a:srgbClr val="00B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/>
          </a:p>
        </p:txBody>
      </p:sp>
      <p:pic>
        <p:nvPicPr>
          <p:cNvPr id="2" name="图片 1" descr="未标题-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4785" y="112395"/>
            <a:ext cx="1779905" cy="6261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5"/>
            <a:ext cx="2057400" cy="273844"/>
          </a:xfrm>
          <a:prstGeom prst="rect">
            <a:avLst/>
          </a:prstGeom>
        </p:spPr>
        <p:txBody>
          <a:bodyPr/>
          <a:lstStyle/>
          <a:p>
            <a:fld id="{5129A644-D3BA-4100-9F27-8FAB5AB407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5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5"/>
            <a:ext cx="2057400" cy="273844"/>
          </a:xfrm>
          <a:prstGeom prst="rect">
            <a:avLst/>
          </a:prstGeom>
        </p:spPr>
        <p:txBody>
          <a:bodyPr/>
          <a:lstStyle/>
          <a:p>
            <a:fld id="{8A046056-EF01-44A2-89F1-9EF604D031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125" y="196672"/>
            <a:ext cx="958776" cy="4168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54310" y="579657"/>
            <a:ext cx="9414133" cy="228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B173D68-52F0-4ED3-93A8-E17EC27F67F9}" type="datetime1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5C5C5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3481812-CA6E-4CF7-A597-B03BE0D22F0C}" type="slidenum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C643B72-3FCA-4AD8-B6B5-A518A157FF60}" type="datetime1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5C5C5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3481812-CA6E-4CF7-A597-B03BE0D22F0C}" type="slidenum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DC59F5-2207-4C0B-A3CC-301E20D5FE29}" type="datetime1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5C5C5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3481812-CA6E-4CF7-A597-B03BE0D22F0C}" type="slidenum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32E1FA4A-85AD-4F08-8976-EACEDDDBF1A9}" type="datetime1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5C5C5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3481812-CA6E-4CF7-A597-B03BE0D22F0C}" type="slidenum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B434DB8-07A8-4FE2-AAAF-918548C7F29D}" type="datetime1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5C5C5C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3481812-CA6E-4CF7-A597-B03BE0D22F0C}" type="slidenum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43778" y="95196"/>
            <a:ext cx="6780923" cy="84453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48F376F-98D4-4EE5-9EC2-6A8A5ECE8D43}" type="datetime1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5C5C5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3481812-CA6E-4CF7-A597-B03BE0D22F0C}" type="slidenum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1D6F9FB-7CDE-416C-839A-5E04051A542C}" type="datetime1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5C5C5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3481812-CA6E-4CF7-A597-B03BE0D22F0C}" type="slidenum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98E088E-CFDD-4C8B-80F9-DF63D212092D}" type="datetime1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GB">
              <a:solidFill>
                <a:srgbClr val="5C5C5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3481812-CA6E-4CF7-A597-B03BE0D22F0C}" type="slidenum">
              <a:rPr lang="en-GB">
                <a:solidFill>
                  <a:srgbClr val="5C5C5C"/>
                </a:solidFill>
              </a:rPr>
            </a:fld>
            <a:endParaRPr lang="en-GB">
              <a:solidFill>
                <a:srgbClr val="5C5C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1" y="3109452"/>
            <a:ext cx="5357130" cy="822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5347728" y="3109452"/>
            <a:ext cx="9496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6297391" y="3109452"/>
            <a:ext cx="948487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7245879" y="3109452"/>
            <a:ext cx="949662" cy="822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8195541" y="3109452"/>
            <a:ext cx="948487" cy="822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41252" y="1188454"/>
            <a:ext cx="3230748" cy="323074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59200" y="2799080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377688" y="2799080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43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72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8575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865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828800" y="10058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486400" y="10058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23774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657600" y="23774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237744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2880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365760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48640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315200" y="10058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82880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65760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548640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7315200" y="2377440"/>
            <a:ext cx="1828800" cy="13716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9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7" name="矩形 7"/>
          <p:cNvSpPr/>
          <p:nvPr userDrawn="1"/>
        </p:nvSpPr>
        <p:spPr>
          <a:xfrm>
            <a:off x="1" y="572146"/>
            <a:ext cx="9138050" cy="3428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828800" y="15049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486400" y="15049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28765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657600" y="28765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28765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82880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365760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48640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315200" y="14287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82880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65760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48640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7315200" y="2800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XAS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43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8575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72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2865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143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8575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572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865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CAS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43000" y="1005840"/>
            <a:ext cx="1714500" cy="34290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857500" y="1005840"/>
            <a:ext cx="3429000" cy="17145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286500" y="1005840"/>
            <a:ext cx="1714500" cy="17145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2857500" y="2720340"/>
            <a:ext cx="1714500" cy="17145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572000" y="2720340"/>
            <a:ext cx="3429000" cy="171450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418868" y="1195644"/>
            <a:ext cx="3230748" cy="323074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173512" y="2001774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796190" y="2001774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56641" y="2001774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984373" y="2811018"/>
            <a:ext cx="1618488" cy="1618488"/>
          </a:xfrm>
          <a:prstGeom prst="diamond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43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720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143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572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857500" y="10058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72000" y="1005840"/>
            <a:ext cx="3429000" cy="3429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143000" y="2720340"/>
            <a:ext cx="1714500" cy="17145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40080" y="1005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783080" y="1005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926080" y="1005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40080" y="2148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783080" y="2148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926080" y="2148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40080" y="3291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783080" y="3291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2926080" y="3291840"/>
            <a:ext cx="1143000" cy="1143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2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143000" y="2377440"/>
            <a:ext cx="1371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257800" y="1005840"/>
            <a:ext cx="2743200" cy="2743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514600" y="2377440"/>
            <a:ext cx="1371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886200" y="2377440"/>
            <a:ext cx="1371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3940762" y="1238250"/>
            <a:ext cx="4524375" cy="3000375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95305" y="1238250"/>
            <a:ext cx="4524375" cy="3000375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/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5800" y="1005840"/>
            <a:ext cx="3657600" cy="2743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800600" y="1005840"/>
            <a:ext cx="3657600" cy="27432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005840"/>
            <a:ext cx="2514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00750" y="1005840"/>
            <a:ext cx="2514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14700" y="1005840"/>
            <a:ext cx="2514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005840"/>
            <a:ext cx="2514600" cy="2514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00750" y="1005840"/>
            <a:ext cx="2514600" cy="2514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14700" y="1005840"/>
            <a:ext cx="2514600" cy="2514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371600"/>
            <a:ext cx="2514600" cy="32004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00750" y="1371600"/>
            <a:ext cx="2514600" cy="32004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14700" y="1371600"/>
            <a:ext cx="2514600" cy="32004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40080" y="1005840"/>
            <a:ext cx="1600200" cy="3429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86000" y="1005840"/>
            <a:ext cx="1600200" cy="3429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931920" y="1005840"/>
            <a:ext cx="1600200" cy="34290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005840"/>
            <a:ext cx="1828800" cy="2514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647950" y="1005840"/>
            <a:ext cx="1828800" cy="2514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67250" y="1005840"/>
            <a:ext cx="1828800" cy="2514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686550" y="1005840"/>
            <a:ext cx="1828800" cy="2514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276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647950" y="1276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67250" y="1276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686550" y="1276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 smtClean="0"/>
            </a:fld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29159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28650" y="30289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67250" y="129159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667250" y="30289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/>
          <a:p>
            <a:fld id="{EFAF4AA5-1B32-4B1D-9466-74C2062FAF79}" type="slidenum">
              <a:rPr lang="uk-UA" smtClean="0"/>
            </a:fld>
            <a:endParaRPr lang="uk-UA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94360" y="1291590"/>
            <a:ext cx="1600200" cy="1600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94360" y="3028950"/>
            <a:ext cx="1600200" cy="1600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31720" y="1291590"/>
            <a:ext cx="1600200" cy="1600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331720" y="3028950"/>
            <a:ext cx="1600200" cy="16002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8650" y="123063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00750" y="123063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14700" y="123063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8650" y="310515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000750" y="310515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314700" y="3105150"/>
            <a:ext cx="25146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47700" y="1288542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667000" y="1288542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86300" y="1288542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705600" y="1288542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47700" y="3181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667000" y="3181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686300" y="3181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705600" y="3181350"/>
            <a:ext cx="1828800" cy="1371600"/>
          </a:xfrm>
          <a:prstGeom prst="rect">
            <a:avLst/>
          </a:prstGeom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8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5800" y="1352550"/>
            <a:ext cx="7772400" cy="1371600"/>
          </a:xfrm>
          <a:prstGeom prst="rect">
            <a:avLst/>
          </a:prstGeom>
          <a:effectLst>
            <a:outerShdw blurRad="2921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58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0866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4864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8862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286000" y="2952750"/>
            <a:ext cx="1371600" cy="1371600"/>
          </a:xfrm>
          <a:prstGeom prst="rect">
            <a:avLst/>
          </a:prstGeom>
          <a:effectLst>
            <a:outerShdw blurRad="190500" dist="38100" dir="5400000" algn="t" rotWithShape="0">
              <a:prstClr val="black">
                <a:alpha val="67000"/>
              </a:prstClr>
            </a:outerShdw>
          </a:effectLst>
        </p:spPr>
        <p:txBody>
          <a:bodyPr lIns="45720" tIns="22860" rIns="45720" bIns="22860"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  <a:endParaRPr lang="uk-UA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3687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sp>
        <p:nvSpPr>
          <p:cNvPr id="15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-MEDIA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/>
          <p:cNvSpPr>
            <a:spLocks noGrp="1"/>
          </p:cNvSpPr>
          <p:nvPr>
            <p:ph type="media" sz="quarter" idx="12" hasCustomPrompt="1"/>
          </p:nvPr>
        </p:nvSpPr>
        <p:spPr>
          <a:xfrm>
            <a:off x="628650" y="1169098"/>
            <a:ext cx="5495206" cy="3091054"/>
          </a:xfrm>
          <a:prstGeom prst="rect">
            <a:avLst/>
          </a:prstGeom>
        </p:spPr>
        <p:txBody>
          <a:bodyPr lIns="45720" tIns="22860" rIns="45720" bIns="22860"/>
          <a:lstStyle/>
          <a:p>
            <a:r>
              <a:rPr lang="en-US" dirty="0"/>
              <a:t>Click icon to add media</a:t>
            </a:r>
            <a:endParaRPr lang="uk-UA"/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628650" y="172388"/>
            <a:ext cx="7886700" cy="397896"/>
          </a:xfrm>
          <a:prstGeom prst="rect">
            <a:avLst/>
          </a:prstGeom>
        </p:spPr>
        <p:txBody>
          <a:bodyPr lIns="45720" tIns="22860" rIns="45720" bIns="22860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uk-U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8" Type="http://schemas.openxmlformats.org/officeDocument/2006/relationships/theme" Target="../theme/theme3.xml"/><Relationship Id="rId37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49.xml"/><Relationship Id="rId30" Type="http://schemas.openxmlformats.org/officeDocument/2006/relationships/slideLayout" Target="../slideLayouts/slideLayout48.xml"/><Relationship Id="rId3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9A3BA-09DF-4A38-917B-1ACD43FEB8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E26FA-E827-4DD1-9059-96430DC6EF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/>
          <p:nvPr userDrawn="1"/>
        </p:nvSpPr>
        <p:spPr>
          <a:xfrm>
            <a:off x="2649478" y="277783"/>
            <a:ext cx="3853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7657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7657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页递进、并列可视化动态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7657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PPT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7657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图表</a:t>
            </a: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rgbClr val="07657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98348" y="247038"/>
            <a:ext cx="417052" cy="353672"/>
          </a:xfrm>
          <a:prstGeom prst="rect">
            <a:avLst/>
          </a:prstGeom>
        </p:spPr>
        <p:txBody>
          <a:bodyPr/>
          <a:lstStyle>
            <a:lvl1pPr algn="ctr">
              <a:defRPr sz="1350">
                <a:solidFill>
                  <a:schemeClr val="bg1"/>
                </a:solidFill>
              </a:defRPr>
            </a:lvl1pPr>
          </a:lstStyle>
          <a:p>
            <a:fld id="{5DE872C3-2ED1-43FB-B3C4-BA6F078D7CD3}" type="slidenum">
              <a:rPr lang="en-US" smtClean="0"/>
            </a:fld>
            <a:endParaRPr lang="en-US" dirty="0"/>
          </a:p>
        </p:txBody>
      </p:sp>
      <p:cxnSp>
        <p:nvCxnSpPr>
          <p:cNvPr id="12" name="直接连接符 6"/>
          <p:cNvCxnSpPr/>
          <p:nvPr userDrawn="1"/>
        </p:nvCxnSpPr>
        <p:spPr>
          <a:xfrm flipV="1">
            <a:off x="304800" y="603492"/>
            <a:ext cx="8321040" cy="1"/>
          </a:xfrm>
          <a:prstGeom prst="line">
            <a:avLst/>
          </a:prstGeom>
          <a:ln w="19050">
            <a:solidFill>
              <a:schemeClr val="accent2">
                <a:lumMod val="10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5"/>
          <p:cNvSpPr/>
          <p:nvPr userDrawn="1"/>
        </p:nvSpPr>
        <p:spPr bwMode="auto">
          <a:xfrm rot="5400000">
            <a:off x="8587507" y="385043"/>
            <a:ext cx="406185" cy="359999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accent2">
              <a:lumMod val="100000"/>
            </a:schemeClr>
          </a:solidFill>
          <a:ln w="12700">
            <a:solidFill>
              <a:schemeClr val="accent2">
                <a:lumMod val="100000"/>
              </a:schemeClr>
            </a:solidFill>
          </a:ln>
          <a:effectLst>
            <a:outerShdw blurRad="165100" dist="762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Slide Number Placeholder 5"/>
          <p:cNvSpPr txBox="1"/>
          <p:nvPr userDrawn="1"/>
        </p:nvSpPr>
        <p:spPr>
          <a:xfrm>
            <a:off x="8614563" y="460564"/>
            <a:ext cx="360000" cy="22860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7B18ED-D931-45F4-8873-1BEDAB4DC03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mpact" panose="020B0806030902050204" pitchFamily="34" charset="0"/>
              <a:ea typeface="Impact" panose="020B0806030902050204" pitchFamily="34" charset="0"/>
              <a:cs typeface="Impact" panose="020B080603090205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7139"/>
            <a:ext cx="9144000" cy="2968752"/>
          </a:xfrm>
          <a:prstGeom prst="rect">
            <a:avLst/>
          </a:prstGeom>
        </p:spPr>
      </p:pic>
      <p:pic>
        <p:nvPicPr>
          <p:cNvPr id="15" name="图片 14" descr="图片包含 游戏机, 电脑, 桌子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525"/>
            <a:ext cx="9144000" cy="4050058"/>
          </a:xfrm>
          <a:prstGeom prst="rect">
            <a:avLst/>
          </a:prstGeom>
        </p:spPr>
      </p:pic>
      <p:sp>
        <p:nvSpPr>
          <p:cNvPr id="11" name="文本框 21"/>
          <p:cNvSpPr txBox="1">
            <a:spLocks noChangeArrowheads="1"/>
          </p:cNvSpPr>
          <p:nvPr/>
        </p:nvSpPr>
        <p:spPr bwMode="auto">
          <a:xfrm>
            <a:off x="1609045" y="1059582"/>
            <a:ext cx="5691188" cy="805815"/>
          </a:xfrm>
          <a:prstGeom prst="rect">
            <a:avLst/>
          </a:prstGeom>
          <a:noFill/>
          <a:ln>
            <a:noFill/>
          </a:ln>
        </p:spPr>
        <p:txBody>
          <a:bodyPr lIns="68577" tIns="34289" rIns="68577" bIns="3428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165" eaLnBrk="1" hangingPunct="1">
              <a:defRPr/>
            </a:pPr>
            <a:r>
              <a:rPr lang="zh-CN" altLang="en-US" sz="4800" b="1" dirty="0">
                <a:ln w="0"/>
                <a:solidFill>
                  <a:srgbClr val="00B0E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转正述职汇报</a:t>
            </a:r>
            <a:endParaRPr lang="zh-CN" altLang="en-US" sz="4800" b="1" dirty="0">
              <a:ln w="0"/>
              <a:solidFill>
                <a:srgbClr val="00B0EC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9"/>
          <p:cNvSpPr>
            <a:spLocks noChangeArrowheads="1"/>
          </p:cNvSpPr>
          <p:nvPr/>
        </p:nvSpPr>
        <p:spPr bwMode="auto">
          <a:xfrm>
            <a:off x="2235128" y="4047022"/>
            <a:ext cx="4610100" cy="25968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1432" tIns="25717" rIns="51432" bIns="25717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326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350" b="1" dirty="0">
                <a:solidFill>
                  <a:srgbClr val="00B0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广西南宁</a:t>
            </a:r>
            <a:endParaRPr lang="en-GB" altLang="zh-CN" sz="1350" b="1" dirty="0">
              <a:solidFill>
                <a:srgbClr val="00B0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2"/>
          <p:cNvSpPr txBox="1">
            <a:spLocks noChangeArrowheads="1"/>
          </p:cNvSpPr>
          <p:nvPr/>
        </p:nvSpPr>
        <p:spPr bwMode="auto">
          <a:xfrm>
            <a:off x="2859675" y="2032211"/>
            <a:ext cx="2955290" cy="31305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77" tIns="34289" rIns="68577" bIns="34289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326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0B0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产品研发部</a:t>
            </a:r>
            <a:r>
              <a:rPr lang="en-US" altLang="zh-CN" sz="1600" b="1" dirty="0">
                <a:solidFill>
                  <a:srgbClr val="00B0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solidFill>
                  <a:srgbClr val="00B0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测试工程师</a:t>
            </a:r>
            <a:r>
              <a:rPr lang="en-US" altLang="zh-CN" sz="1600" b="1" dirty="0">
                <a:solidFill>
                  <a:srgbClr val="00B0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solidFill>
                  <a:srgbClr val="00B0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樊鑫宇</a:t>
            </a:r>
            <a:endParaRPr lang="zh-CN" altLang="en-US" sz="1600" b="1" dirty="0">
              <a:solidFill>
                <a:srgbClr val="00B0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0" y="4198231"/>
            <a:ext cx="3875809" cy="0"/>
          </a:xfrm>
          <a:prstGeom prst="line">
            <a:avLst/>
          </a:prstGeom>
          <a:noFill/>
          <a:ln w="9525" cap="flat" cmpd="sng" algn="ctr">
            <a:solidFill>
              <a:srgbClr val="00B0EC"/>
            </a:solidFill>
            <a:prstDash val="solid"/>
          </a:ln>
          <a:effectLst/>
        </p:spPr>
      </p:cxnSp>
      <p:cxnSp>
        <p:nvCxnSpPr>
          <p:cNvPr id="27" name="直接连接符 26"/>
          <p:cNvCxnSpPr/>
          <p:nvPr/>
        </p:nvCxnSpPr>
        <p:spPr>
          <a:xfrm>
            <a:off x="5171209" y="4198231"/>
            <a:ext cx="3972791" cy="27384"/>
          </a:xfrm>
          <a:prstGeom prst="line">
            <a:avLst/>
          </a:prstGeom>
          <a:noFill/>
          <a:ln w="9525" cap="flat" cmpd="sng" algn="ctr">
            <a:solidFill>
              <a:srgbClr val="00B0EC"/>
            </a:solidFill>
            <a:prstDash val="solid"/>
          </a:ln>
          <a:effectLst/>
        </p:spPr>
      </p:cxnSp>
      <p:sp>
        <p:nvSpPr>
          <p:cNvPr id="28" name="椭圆 27"/>
          <p:cNvSpPr/>
          <p:nvPr/>
        </p:nvSpPr>
        <p:spPr>
          <a:xfrm>
            <a:off x="5136681" y="4172038"/>
            <a:ext cx="54769" cy="53578"/>
          </a:xfrm>
          <a:prstGeom prst="ellipse">
            <a:avLst/>
          </a:prstGeom>
          <a:solidFill>
            <a:srgbClr val="00B0EC"/>
          </a:solidFill>
          <a:ln w="25400" cap="flat" cmpd="sng" algn="ctr">
            <a:solidFill>
              <a:srgbClr val="00B0EC"/>
            </a:solidFill>
            <a:prstDash val="solid"/>
          </a:ln>
          <a:effectLst/>
        </p:spPr>
        <p:txBody>
          <a:bodyPr lIns="68579" tIns="34289" rIns="68579" bIns="34289" anchor="ctr"/>
          <a:lstStyle/>
          <a:p>
            <a:pPr algn="ctr" defTabSz="6845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 kern="0">
              <a:solidFill>
                <a:srgbClr val="00B0EC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846044" y="4173228"/>
            <a:ext cx="53578" cy="54769"/>
          </a:xfrm>
          <a:prstGeom prst="ellipse">
            <a:avLst/>
          </a:prstGeom>
          <a:solidFill>
            <a:srgbClr val="00B0EC"/>
          </a:solidFill>
          <a:ln w="25400" cap="flat" cmpd="sng" algn="ctr">
            <a:solidFill>
              <a:srgbClr val="00B0EC"/>
            </a:solidFill>
            <a:prstDash val="solid"/>
          </a:ln>
          <a:effectLst/>
        </p:spPr>
        <p:txBody>
          <a:bodyPr lIns="68579" tIns="34289" rIns="68579" bIns="34289" anchor="ctr"/>
          <a:lstStyle/>
          <a:p>
            <a:pPr algn="ctr" defTabSz="6845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 kern="0">
              <a:solidFill>
                <a:srgbClr val="00B0EC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995685"/>
            <a:ext cx="9144000" cy="15081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691680" y="2407446"/>
            <a:ext cx="2589530" cy="64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4840"/>
              </a:lnSpc>
              <a:spcBef>
                <a:spcPts val="400"/>
              </a:spcBef>
              <a:defRPr/>
            </a:pPr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当前工作内容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 flipH="1">
            <a:off x="1737856" y="3068537"/>
            <a:ext cx="1105952" cy="226700"/>
            <a:chOff x="8692273" y="1012449"/>
            <a:chExt cx="1474602" cy="302266"/>
          </a:xfrm>
          <a:solidFill>
            <a:schemeClr val="bg1"/>
          </a:solidFill>
        </p:grpSpPr>
        <p:sp>
          <p:nvSpPr>
            <p:cNvPr id="20" name="任意多边形: 形状 19"/>
            <p:cNvSpPr/>
            <p:nvPr/>
          </p:nvSpPr>
          <p:spPr>
            <a:xfrm rot="2700000">
              <a:off x="8692274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 rot="2700000">
              <a:off x="9083052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 rot="2700000">
              <a:off x="9473830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 rot="2700000">
              <a:off x="9864609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81963" y="2824554"/>
            <a:ext cx="2028825" cy="84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4840"/>
              </a:lnSpc>
              <a:spcBef>
                <a:spcPts val="400"/>
              </a:spcBef>
              <a:defRPr/>
            </a:pPr>
            <a:r>
              <a:rPr kumimoji="1" lang="en-US" altLang="zh-CN" sz="11000" dirty="0">
                <a:solidFill>
                  <a:schemeClr val="bg1"/>
                </a:solidFill>
                <a:latin typeface="Impact" panose="020B0806030902050204" pitchFamily="34" charset="0"/>
                <a:ea typeface="黑体" panose="02010609060101010101" charset="-122"/>
                <a:cs typeface="Times New Roman" panose="02020603050405020304" pitchFamily="18" charset="0"/>
              </a:rPr>
              <a:t>01</a:t>
            </a:r>
            <a:endParaRPr kumimoji="1" lang="en-US" altLang="zh-CN" sz="11000" dirty="0">
              <a:solidFill>
                <a:schemeClr val="bg1"/>
              </a:solidFill>
              <a:latin typeface="Impact" panose="020B0806030902050204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l="14000" t="17780" r="32114" b="15281"/>
          <a:stretch>
            <a:fillRect/>
          </a:stretch>
        </p:blipFill>
        <p:spPr>
          <a:xfrm>
            <a:off x="5580113" y="1995685"/>
            <a:ext cx="3566158" cy="1508106"/>
          </a:xfrm>
          <a:prstGeom prst="rect">
            <a:avLst/>
          </a:prstGeom>
          <a:solidFill>
            <a:srgbClr val="00B0EC"/>
          </a:solidFill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4"/>
          <p:cNvSpPr txBox="1"/>
          <p:nvPr/>
        </p:nvSpPr>
        <p:spPr>
          <a:xfrm>
            <a:off x="342264" y="222885"/>
            <a:ext cx="574190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b="1">
                <a:solidFill>
                  <a:srgbClr val="00AFE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AFE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产品研发部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AFE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AFE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测试工程师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AFE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AFE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樊鑫宇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主要工作内容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AFE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690245"/>
            <a:ext cx="8002270" cy="445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spcAft>
                <a:spcPts val="1400"/>
              </a:spcAft>
            </a:pPr>
            <a:r>
              <a:rPr lang="zh-CN" altLang="en-US" sz="1600"/>
              <a:t>一、线路测试</a:t>
            </a:r>
            <a:r>
              <a:rPr lang="en-US" altLang="zh-CN" sz="1600"/>
              <a:t>-BD300</a:t>
            </a:r>
            <a:r>
              <a:rPr lang="zh-CN" altLang="en-US" sz="1600"/>
              <a:t>以及</a:t>
            </a:r>
            <a:r>
              <a:rPr lang="en-US" altLang="zh-CN" sz="1600"/>
              <a:t>300plus</a:t>
            </a:r>
            <a:endParaRPr lang="en-US" altLang="zh-CN" sz="1600"/>
          </a:p>
          <a:p>
            <a:pPr indent="457200" fontAlgn="auto">
              <a:spcAft>
                <a:spcPts val="1400"/>
              </a:spcAft>
            </a:pPr>
            <a:r>
              <a:rPr lang="en-US" altLang="zh-CN" sz="1600"/>
              <a:t>· </a:t>
            </a:r>
            <a:r>
              <a:rPr lang="zh-CN" altLang="en-US" sz="1600"/>
              <a:t>北京新机场、西安</a:t>
            </a:r>
            <a:r>
              <a:rPr lang="en-US" altLang="zh-CN" sz="1600"/>
              <a:t>5</a:t>
            </a:r>
            <a:r>
              <a:rPr lang="zh-CN" altLang="en-US" sz="1600"/>
              <a:t>、苏州</a:t>
            </a:r>
            <a:r>
              <a:rPr lang="en-US" altLang="zh-CN" sz="1600"/>
              <a:t>6</a:t>
            </a:r>
            <a:endParaRPr lang="en-US" altLang="zh-CN" sz="1600"/>
          </a:p>
          <a:p>
            <a:pPr fontAlgn="auto">
              <a:spcAft>
                <a:spcPts val="1400"/>
              </a:spcAft>
            </a:pPr>
            <a:r>
              <a:rPr lang="zh-CN" altLang="en-US" sz="1600"/>
              <a:t>二、线路测试</a:t>
            </a:r>
            <a:r>
              <a:rPr lang="en-US" altLang="zh-CN" sz="1600"/>
              <a:t>-BD400</a:t>
            </a:r>
            <a:endParaRPr lang="en-US" altLang="zh-CN" sz="1600"/>
          </a:p>
          <a:p>
            <a:pPr indent="457200" fontAlgn="auto">
              <a:spcAft>
                <a:spcPts val="1400"/>
              </a:spcAft>
            </a:pPr>
            <a:r>
              <a:rPr lang="en-US" altLang="zh-CN" sz="1600"/>
              <a:t>· </a:t>
            </a:r>
            <a:r>
              <a:rPr lang="zh-CN" altLang="en-US" sz="1600"/>
              <a:t>乌鲁木齐</a:t>
            </a:r>
            <a:r>
              <a:rPr lang="en-US" altLang="zh-CN" sz="1600"/>
              <a:t>2</a:t>
            </a:r>
            <a:r>
              <a:rPr lang="zh-CN" altLang="en-US" sz="1600"/>
              <a:t>首版、迪士尼、北京</a:t>
            </a:r>
            <a:r>
              <a:rPr lang="en-US" altLang="zh-CN" sz="1600"/>
              <a:t>22</a:t>
            </a:r>
            <a:r>
              <a:rPr lang="zh-CN" altLang="en-US" sz="1600"/>
              <a:t>、成都</a:t>
            </a:r>
            <a:r>
              <a:rPr lang="en-US" altLang="zh-CN" sz="1600"/>
              <a:t>30</a:t>
            </a:r>
            <a:r>
              <a:rPr lang="zh-CN" altLang="en-US" sz="1600"/>
              <a:t>、成都</a:t>
            </a:r>
            <a:r>
              <a:rPr lang="en-US" altLang="zh-CN" sz="1600"/>
              <a:t>13</a:t>
            </a:r>
            <a:r>
              <a:rPr lang="zh-CN" altLang="en-US" sz="1600"/>
              <a:t>、天津</a:t>
            </a:r>
            <a:r>
              <a:rPr lang="en-US" altLang="zh-CN" sz="1600"/>
              <a:t>10</a:t>
            </a:r>
            <a:r>
              <a:rPr lang="zh-CN" altLang="en-US" sz="1600"/>
              <a:t>、厦门</a:t>
            </a:r>
            <a:r>
              <a:rPr lang="en-US" altLang="zh-CN" sz="1600"/>
              <a:t>3</a:t>
            </a:r>
            <a:endParaRPr lang="en-US" altLang="zh-CN" sz="1600"/>
          </a:p>
          <a:p>
            <a:endParaRPr lang="en-US" altLang="zh-CN" sz="1600"/>
          </a:p>
          <a:p>
            <a:pPr indent="457200"/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2355850"/>
            <a:ext cx="5485130" cy="2602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5655" y="1040130"/>
            <a:ext cx="7668895" cy="3589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fontAlgn="auto">
              <a:spcAft>
                <a:spcPts val="1400"/>
              </a:spcAft>
            </a:pPr>
            <a:r>
              <a:rPr lang="zh-CN" altLang="en-US" sz="1600">
                <a:sym typeface="+mn-ea"/>
              </a:rPr>
              <a:t>三、报文脚本的编写与优化</a:t>
            </a:r>
            <a:endParaRPr lang="zh-CN" altLang="en-US" sz="1600"/>
          </a:p>
          <a:p>
            <a:pPr indent="45720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· </a:t>
            </a:r>
            <a:r>
              <a:rPr lang="zh-CN" altLang="en-US" sz="1600">
                <a:sym typeface="+mn-ea"/>
              </a:rPr>
              <a:t>补全</a:t>
            </a:r>
            <a:r>
              <a:rPr lang="en-US" altLang="zh-CN" sz="1600">
                <a:sym typeface="+mn-ea"/>
              </a:rPr>
              <a:t>vobc16.6.1-16.6.8</a:t>
            </a:r>
            <a:r>
              <a:rPr lang="zh-CN" altLang="en-US" sz="1600">
                <a:sym typeface="+mn-ea"/>
              </a:rPr>
              <a:t>的报文脚本</a:t>
            </a:r>
            <a:endParaRPr lang="zh-CN" altLang="en-US" sz="1600"/>
          </a:p>
          <a:p>
            <a:pPr indent="45720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· </a:t>
            </a:r>
            <a:r>
              <a:rPr lang="zh-CN" altLang="en-US" sz="1600">
                <a:sym typeface="+mn-ea"/>
              </a:rPr>
              <a:t>编写</a:t>
            </a:r>
            <a:r>
              <a:rPr lang="en-US" altLang="zh-CN" sz="1600">
                <a:sym typeface="+mn-ea"/>
              </a:rPr>
              <a:t>ATS10.0</a:t>
            </a:r>
            <a:r>
              <a:rPr lang="zh-CN" altLang="en-US" sz="1600">
                <a:sym typeface="+mn-ea"/>
              </a:rPr>
              <a:t>和</a:t>
            </a:r>
            <a:r>
              <a:rPr lang="en-US" altLang="zh-CN" sz="1600">
                <a:sym typeface="+mn-ea"/>
              </a:rPr>
              <a:t>ATS11.0</a:t>
            </a:r>
            <a:r>
              <a:rPr lang="zh-CN" altLang="en-US" sz="1600">
                <a:sym typeface="+mn-ea"/>
              </a:rPr>
              <a:t>的设备拓扑图报警脚本</a:t>
            </a:r>
            <a:endParaRPr lang="zh-CN" altLang="en-US" sz="1600"/>
          </a:p>
          <a:p>
            <a:pPr indent="45720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· </a:t>
            </a:r>
            <a:r>
              <a:rPr lang="zh-CN" altLang="en-US" sz="1600">
                <a:sym typeface="+mn-ea"/>
              </a:rPr>
              <a:t>优化</a:t>
            </a:r>
            <a:r>
              <a:rPr lang="en-US" altLang="zh-CN" sz="1600">
                <a:sym typeface="+mn-ea"/>
              </a:rPr>
              <a:t>DCS</a:t>
            </a:r>
            <a:r>
              <a:rPr lang="zh-CN" altLang="en-US" sz="1600">
                <a:sym typeface="+mn-ea"/>
              </a:rPr>
              <a:t>和</a:t>
            </a:r>
            <a:r>
              <a:rPr lang="en-US" altLang="zh-CN" sz="1600">
                <a:sym typeface="+mn-ea"/>
              </a:rPr>
              <a:t>switchgapNBSG</a:t>
            </a:r>
            <a:r>
              <a:rPr lang="zh-CN" altLang="en-US" sz="1600">
                <a:sym typeface="+mn-ea"/>
              </a:rPr>
              <a:t>的脚本</a:t>
            </a:r>
            <a:endParaRPr lang="zh-CN" altLang="en-US" sz="1600"/>
          </a:p>
          <a:p>
            <a:pPr fontAlgn="auto">
              <a:spcAft>
                <a:spcPts val="1400"/>
              </a:spcAft>
            </a:pPr>
            <a:endParaRPr lang="zh-CN" altLang="en-US" sz="160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8820" y="986155"/>
            <a:ext cx="2993390" cy="3513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1505" y="915670"/>
            <a:ext cx="7407275" cy="4090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fontAlgn="auto">
              <a:spcAft>
                <a:spcPts val="1400"/>
              </a:spcAft>
            </a:pPr>
            <a:r>
              <a:rPr lang="zh-CN" altLang="en-US" sz="1600">
                <a:sym typeface="+mn-ea"/>
              </a:rPr>
              <a:t>四、编写所需测试线路的测试用例</a:t>
            </a:r>
            <a:endParaRPr lang="zh-CN" altLang="en-US" sz="160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275715"/>
            <a:ext cx="7409180" cy="3146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995685"/>
            <a:ext cx="9144000" cy="15081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691680" y="2407446"/>
            <a:ext cx="2589530" cy="64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4840"/>
              </a:lnSpc>
              <a:spcBef>
                <a:spcPts val="400"/>
              </a:spcBef>
              <a:defRPr/>
            </a:pPr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当前工作进展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 flipH="1">
            <a:off x="1737856" y="3068537"/>
            <a:ext cx="1105952" cy="226700"/>
            <a:chOff x="8692273" y="1012449"/>
            <a:chExt cx="1474602" cy="302266"/>
          </a:xfrm>
          <a:solidFill>
            <a:schemeClr val="bg1"/>
          </a:solidFill>
        </p:grpSpPr>
        <p:sp>
          <p:nvSpPr>
            <p:cNvPr id="20" name="任意多边形: 形状 19"/>
            <p:cNvSpPr/>
            <p:nvPr/>
          </p:nvSpPr>
          <p:spPr>
            <a:xfrm rot="2700000">
              <a:off x="8692274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 rot="2700000">
              <a:off x="9083052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 rot="2700000">
              <a:off x="9473830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 rot="2700000">
              <a:off x="9864609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81963" y="2824554"/>
            <a:ext cx="2028825" cy="84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4840"/>
              </a:lnSpc>
              <a:spcBef>
                <a:spcPts val="400"/>
              </a:spcBef>
              <a:defRPr/>
            </a:pPr>
            <a:r>
              <a:rPr kumimoji="1" lang="en-US" altLang="zh-CN" sz="11000" dirty="0">
                <a:solidFill>
                  <a:schemeClr val="bg1"/>
                </a:solidFill>
                <a:latin typeface="Impact" panose="020B0806030902050204" pitchFamily="34" charset="0"/>
                <a:ea typeface="黑体" panose="02010609060101010101" charset="-122"/>
                <a:cs typeface="Times New Roman" panose="02020603050405020304" pitchFamily="18" charset="0"/>
              </a:rPr>
              <a:t>02</a:t>
            </a:r>
            <a:endParaRPr kumimoji="1" lang="en-US" altLang="zh-CN" sz="11000" dirty="0">
              <a:solidFill>
                <a:schemeClr val="bg1"/>
              </a:solidFill>
              <a:latin typeface="Impact" panose="020B0806030902050204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l="14000" t="17780" r="32114" b="15281"/>
          <a:stretch>
            <a:fillRect/>
          </a:stretch>
        </p:blipFill>
        <p:spPr>
          <a:xfrm>
            <a:off x="5580113" y="1995685"/>
            <a:ext cx="3566158" cy="1508106"/>
          </a:xfrm>
          <a:prstGeom prst="rect">
            <a:avLst/>
          </a:prstGeom>
          <a:solidFill>
            <a:srgbClr val="00B0EC"/>
          </a:solidFill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4"/>
          <p:cNvSpPr txBox="1"/>
          <p:nvPr/>
        </p:nvSpPr>
        <p:spPr>
          <a:xfrm>
            <a:off x="342264" y="222885"/>
            <a:ext cx="574190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b="1">
                <a:solidFill>
                  <a:srgbClr val="00AFE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产品研发部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-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测试工程师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-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樊鑫宇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当前工作</a:t>
            </a:r>
            <a:r>
              <a:rPr lang="zh-CN" altLang="en-US" dirty="0">
                <a:sym typeface="+mn-ea"/>
              </a:rPr>
              <a:t>进展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912495"/>
            <a:ext cx="5916295" cy="3743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1.</a:t>
            </a:r>
            <a:r>
              <a:rPr lang="zh-CN" altLang="en-US" sz="1600">
                <a:sym typeface="+mn-ea"/>
              </a:rPr>
              <a:t>北京新机场</a:t>
            </a:r>
            <a:r>
              <a:rPr lang="en-US" altLang="zh-CN" sz="1600">
                <a:sym typeface="+mn-ea"/>
              </a:rPr>
              <a:t>VOBC</a:t>
            </a:r>
            <a:r>
              <a:rPr lang="zh-CN" altLang="en-US" sz="1600">
                <a:sym typeface="+mn-ea"/>
              </a:rPr>
              <a:t>缺陷回归验证（</a:t>
            </a:r>
            <a:r>
              <a:rPr lang="en-US" altLang="zh-CN" sz="1600">
                <a:sym typeface="+mn-ea"/>
              </a:rPr>
              <a:t>BD300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已完成</a:t>
            </a:r>
            <a:endParaRPr lang="zh-CN" altLang="en-US" sz="1600"/>
          </a:p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2.</a:t>
            </a:r>
            <a:r>
              <a:rPr lang="zh-CN" altLang="en-US" sz="1600">
                <a:sym typeface="+mn-ea"/>
              </a:rPr>
              <a:t>乌鲁木齐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首版以及缺陷回归测试（</a:t>
            </a:r>
            <a:r>
              <a:rPr lang="en-US" altLang="zh-CN" sz="1600">
                <a:sym typeface="+mn-ea"/>
              </a:rPr>
              <a:t>BD400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已完成</a:t>
            </a:r>
            <a:endParaRPr lang="zh-CN" altLang="en-US" sz="1600"/>
          </a:p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3.</a:t>
            </a:r>
            <a:r>
              <a:rPr lang="zh-CN" altLang="en-US" sz="1600">
                <a:sym typeface="+mn-ea"/>
              </a:rPr>
              <a:t>北京</a:t>
            </a:r>
            <a:r>
              <a:rPr lang="en-US" altLang="zh-CN" sz="1600">
                <a:sym typeface="+mn-ea"/>
              </a:rPr>
              <a:t>22</a:t>
            </a:r>
            <a:r>
              <a:rPr lang="zh-CN" altLang="en-US" sz="1600">
                <a:sym typeface="+mn-ea"/>
              </a:rPr>
              <a:t>接口升级以及需求优化测试（</a:t>
            </a:r>
            <a:r>
              <a:rPr lang="en-US" altLang="zh-CN" sz="1600">
                <a:sym typeface="+mn-ea"/>
              </a:rPr>
              <a:t>BD400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已完成</a:t>
            </a:r>
            <a:endParaRPr lang="zh-CN" altLang="en-US" sz="1600"/>
          </a:p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4.</a:t>
            </a:r>
            <a:r>
              <a:rPr lang="zh-CN" altLang="en-US" sz="1600">
                <a:sym typeface="+mn-ea"/>
              </a:rPr>
              <a:t>苏州</a:t>
            </a:r>
            <a:r>
              <a:rPr lang="en-US" altLang="zh-CN" sz="1600">
                <a:sym typeface="+mn-ea"/>
              </a:rPr>
              <a:t>6</a:t>
            </a:r>
            <a:r>
              <a:rPr lang="zh-CN" altLang="en-US" sz="1600">
                <a:sym typeface="+mn-ea"/>
              </a:rPr>
              <a:t>缺陷修复以及需求优化测试（</a:t>
            </a:r>
            <a:r>
              <a:rPr lang="en-US" altLang="zh-CN" sz="1600">
                <a:sym typeface="+mn-ea"/>
              </a:rPr>
              <a:t>BD300+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已完成</a:t>
            </a:r>
            <a:endParaRPr lang="zh-CN" altLang="en-US" sz="1600"/>
          </a:p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5.</a:t>
            </a:r>
            <a:r>
              <a:rPr lang="zh-CN" altLang="en-US" sz="1600">
                <a:sym typeface="+mn-ea"/>
              </a:rPr>
              <a:t>西安</a:t>
            </a:r>
            <a:r>
              <a:rPr lang="en-US" altLang="zh-CN" sz="1600">
                <a:sym typeface="+mn-ea"/>
              </a:rPr>
              <a:t>5</a:t>
            </a:r>
            <a:r>
              <a:rPr lang="zh-CN" altLang="en-US" sz="1600">
                <a:sym typeface="+mn-ea"/>
              </a:rPr>
              <a:t>码位更新以及接口回退测试（</a:t>
            </a:r>
            <a:r>
              <a:rPr lang="en-US" altLang="zh-CN" sz="1600">
                <a:sym typeface="+mn-ea"/>
              </a:rPr>
              <a:t>BD300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已完成</a:t>
            </a:r>
            <a:endParaRPr lang="zh-CN" altLang="en-US" sz="1600"/>
          </a:p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6.</a:t>
            </a:r>
            <a:r>
              <a:rPr lang="zh-CN" altLang="en-US" sz="1600">
                <a:sym typeface="+mn-ea"/>
              </a:rPr>
              <a:t>成都</a:t>
            </a:r>
            <a:r>
              <a:rPr lang="en-US" altLang="zh-CN" sz="1600">
                <a:sym typeface="+mn-ea"/>
              </a:rPr>
              <a:t>30</a:t>
            </a:r>
            <a:r>
              <a:rPr lang="zh-CN" altLang="en-US" sz="1600">
                <a:sym typeface="+mn-ea"/>
              </a:rPr>
              <a:t>需求优化测试（</a:t>
            </a:r>
            <a:r>
              <a:rPr lang="en-US" altLang="zh-CN" sz="1600">
                <a:sym typeface="+mn-ea"/>
              </a:rPr>
              <a:t>BD400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已完成</a:t>
            </a:r>
            <a:endParaRPr lang="zh-CN" altLang="en-US" sz="1600"/>
          </a:p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7.</a:t>
            </a:r>
            <a:r>
              <a:rPr lang="zh-CN" altLang="en-US" sz="1600">
                <a:sym typeface="+mn-ea"/>
              </a:rPr>
              <a:t>天津</a:t>
            </a:r>
            <a:r>
              <a:rPr lang="en-US" altLang="zh-CN" sz="1600">
                <a:sym typeface="+mn-ea"/>
              </a:rPr>
              <a:t>10</a:t>
            </a:r>
            <a:r>
              <a:rPr lang="zh-CN" altLang="en-US" sz="1600">
                <a:sym typeface="+mn-ea"/>
              </a:rPr>
              <a:t>（</a:t>
            </a:r>
            <a:r>
              <a:rPr lang="en-US" altLang="zh-CN" sz="1600">
                <a:sym typeface="+mn-ea"/>
              </a:rPr>
              <a:t>BD</a:t>
            </a:r>
            <a:r>
              <a:rPr lang="zh-CN" altLang="en-US" sz="1600">
                <a:sym typeface="+mn-ea"/>
              </a:rPr>
              <a:t>部分）缺陷修复以及需求优化（</a:t>
            </a:r>
            <a:r>
              <a:rPr lang="en-US" altLang="zh-CN" sz="1600">
                <a:sym typeface="+mn-ea"/>
              </a:rPr>
              <a:t>BD400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已完成</a:t>
            </a:r>
            <a:endParaRPr lang="zh-CN" altLang="en-US" sz="1600"/>
          </a:p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8.</a:t>
            </a:r>
            <a:r>
              <a:rPr lang="zh-CN" altLang="en-US" sz="1600">
                <a:sym typeface="+mn-ea"/>
              </a:rPr>
              <a:t>成都</a:t>
            </a:r>
            <a:r>
              <a:rPr lang="en-US" altLang="zh-CN" sz="1600">
                <a:sym typeface="+mn-ea"/>
              </a:rPr>
              <a:t>13</a:t>
            </a:r>
            <a:r>
              <a:rPr lang="zh-CN" altLang="en-US" sz="1600">
                <a:sym typeface="+mn-ea"/>
              </a:rPr>
              <a:t>缺陷修复以及需求优化测试（</a:t>
            </a:r>
            <a:r>
              <a:rPr lang="en-US" altLang="zh-CN" sz="1600">
                <a:sym typeface="+mn-ea"/>
              </a:rPr>
              <a:t>BD400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已完成</a:t>
            </a:r>
            <a:endParaRPr lang="zh-CN" altLang="en-US" sz="1600">
              <a:sym typeface="+mn-ea"/>
            </a:endParaRPr>
          </a:p>
          <a:p>
            <a:pPr indent="0" fontAlgn="auto">
              <a:spcAft>
                <a:spcPts val="1400"/>
              </a:spcAft>
            </a:pPr>
            <a:r>
              <a:rPr lang="en-US" altLang="zh-CN" sz="1600">
                <a:sym typeface="+mn-ea"/>
              </a:rPr>
              <a:t>9.</a:t>
            </a:r>
            <a:r>
              <a:rPr lang="zh-CN" altLang="en-US" sz="1600">
                <a:sym typeface="+mn-ea"/>
              </a:rPr>
              <a:t>厦门</a:t>
            </a:r>
            <a:r>
              <a:rPr lang="en-US" altLang="zh-CN" sz="1600">
                <a:sym typeface="+mn-ea"/>
              </a:rPr>
              <a:t>3</a:t>
            </a:r>
            <a:r>
              <a:rPr lang="zh-CN" altLang="en-US" sz="1600">
                <a:sym typeface="+mn-ea"/>
              </a:rPr>
              <a:t>二期首版测试（</a:t>
            </a:r>
            <a:r>
              <a:rPr lang="en-US" altLang="zh-CN" sz="1600">
                <a:sym typeface="+mn-ea"/>
              </a:rPr>
              <a:t>BD400</a:t>
            </a:r>
            <a:r>
              <a:rPr lang="zh-CN" altLang="en-US" sz="1600">
                <a:sym typeface="+mn-ea"/>
              </a:rPr>
              <a:t>）</a:t>
            </a:r>
            <a:r>
              <a:rPr lang="en-US" altLang="zh-CN" sz="1600">
                <a:sym typeface="+mn-ea"/>
              </a:rPr>
              <a:t>-</a:t>
            </a:r>
            <a:r>
              <a:rPr lang="zh-CN" altLang="en-US" sz="1600">
                <a:sym typeface="+mn-ea"/>
              </a:rPr>
              <a:t>（完成</a:t>
            </a:r>
            <a:r>
              <a:rPr lang="en-US" altLang="zh-CN" sz="1600">
                <a:sym typeface="+mn-ea"/>
              </a:rPr>
              <a:t>80%</a:t>
            </a:r>
            <a:r>
              <a:rPr lang="zh-CN" altLang="en-US" sz="1600">
                <a:sym typeface="+mn-ea"/>
              </a:rPr>
              <a:t>）</a:t>
            </a:r>
            <a:endParaRPr lang="en-US" altLang="zh-CN" sz="1600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425" y="771525"/>
            <a:ext cx="2217420" cy="13836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2139950"/>
            <a:ext cx="2081530" cy="13176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960" y="3506470"/>
            <a:ext cx="2064385" cy="1327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995685"/>
            <a:ext cx="9144000" cy="15081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691679" y="2407446"/>
            <a:ext cx="3302265" cy="64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4840"/>
              </a:lnSpc>
              <a:spcBef>
                <a:spcPts val="400"/>
              </a:spcBef>
              <a:defRPr/>
            </a:pPr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下周期工作计划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 flipH="1">
            <a:off x="1737856" y="3068537"/>
            <a:ext cx="1105952" cy="226700"/>
            <a:chOff x="8692273" y="1012449"/>
            <a:chExt cx="1474602" cy="302266"/>
          </a:xfrm>
          <a:solidFill>
            <a:schemeClr val="bg1"/>
          </a:solidFill>
        </p:grpSpPr>
        <p:sp>
          <p:nvSpPr>
            <p:cNvPr id="20" name="任意多边形: 形状 19"/>
            <p:cNvSpPr/>
            <p:nvPr/>
          </p:nvSpPr>
          <p:spPr>
            <a:xfrm rot="2700000">
              <a:off x="8692274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 rot="2700000">
              <a:off x="9083052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 rot="2700000">
              <a:off x="9473830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 rot="2700000">
              <a:off x="9864609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81963" y="2824554"/>
            <a:ext cx="2028825" cy="84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4840"/>
              </a:lnSpc>
              <a:spcBef>
                <a:spcPts val="400"/>
              </a:spcBef>
              <a:defRPr/>
            </a:pPr>
            <a:r>
              <a:rPr kumimoji="1" lang="en-US" altLang="zh-CN" sz="11000" dirty="0">
                <a:solidFill>
                  <a:schemeClr val="bg1"/>
                </a:solidFill>
                <a:latin typeface="Impact" panose="020B0806030902050204" pitchFamily="34" charset="0"/>
                <a:ea typeface="黑体" panose="02010609060101010101" charset="-122"/>
                <a:cs typeface="Times New Roman" panose="02020603050405020304" pitchFamily="18" charset="0"/>
              </a:rPr>
              <a:t>03</a:t>
            </a:r>
            <a:endParaRPr kumimoji="1" lang="en-US" altLang="zh-CN" sz="11000" dirty="0">
              <a:solidFill>
                <a:schemeClr val="bg1"/>
              </a:solidFill>
              <a:latin typeface="Impact" panose="020B0806030902050204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l="14000" t="17780" r="32114" b="15281"/>
          <a:stretch>
            <a:fillRect/>
          </a:stretch>
        </p:blipFill>
        <p:spPr>
          <a:xfrm>
            <a:off x="5580113" y="1995685"/>
            <a:ext cx="3566158" cy="1508106"/>
          </a:xfrm>
          <a:prstGeom prst="rect">
            <a:avLst/>
          </a:prstGeom>
          <a:solidFill>
            <a:srgbClr val="00B0EC"/>
          </a:solidFill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4"/>
          <p:cNvSpPr txBox="1"/>
          <p:nvPr/>
        </p:nvSpPr>
        <p:spPr>
          <a:xfrm>
            <a:off x="342264" y="222885"/>
            <a:ext cx="574190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b="1">
                <a:solidFill>
                  <a:srgbClr val="00AFE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产品研发部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-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测试工程师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-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樊鑫宇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下周期工作</a:t>
            </a:r>
            <a:r>
              <a:rPr lang="zh-CN" altLang="en-US" dirty="0">
                <a:sym typeface="+mn-ea"/>
              </a:rPr>
              <a:t>计划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9795" y="1059815"/>
            <a:ext cx="6656070" cy="4191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600"/>
              <a:t>一、深入</a:t>
            </a:r>
            <a:r>
              <a:rPr lang="zh-CN" altLang="en-US" sz="1600"/>
              <a:t>了解道岔感知系统的测试流程以及测试工具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二、深入了解智能分析系统的</a:t>
            </a:r>
            <a:r>
              <a:rPr lang="zh-CN" altLang="en-US" sz="1600"/>
              <a:t>测试流程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三、深入了解各个子系统的相互关系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四、编写以及优化其他子系统协议的脚本</a:t>
            </a:r>
            <a:endParaRPr lang="zh-CN" altLang="en-US" sz="1600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995685"/>
            <a:ext cx="9144000" cy="15081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691679" y="2407446"/>
            <a:ext cx="3302265" cy="64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4840"/>
              </a:lnSpc>
              <a:spcBef>
                <a:spcPts val="400"/>
              </a:spcBef>
              <a:defRPr/>
            </a:pPr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需要协调的问题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 flipH="1">
            <a:off x="1737856" y="3068537"/>
            <a:ext cx="1105952" cy="226700"/>
            <a:chOff x="8692273" y="1012449"/>
            <a:chExt cx="1474602" cy="302266"/>
          </a:xfrm>
          <a:solidFill>
            <a:schemeClr val="bg1"/>
          </a:solidFill>
        </p:grpSpPr>
        <p:sp>
          <p:nvSpPr>
            <p:cNvPr id="20" name="任意多边形: 形状 19"/>
            <p:cNvSpPr/>
            <p:nvPr/>
          </p:nvSpPr>
          <p:spPr>
            <a:xfrm rot="2700000">
              <a:off x="8692274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 rot="2700000">
              <a:off x="9083052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 rot="2700000">
              <a:off x="9473830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 rot="2700000">
              <a:off x="9864609" y="1012448"/>
              <a:ext cx="302266" cy="302267"/>
            </a:xfrm>
            <a:custGeom>
              <a:avLst/>
              <a:gdLst>
                <a:gd name="connsiteX0" fmla="*/ 0 w 2480567"/>
                <a:gd name="connsiteY0" fmla="*/ 494213 h 2480569"/>
                <a:gd name="connsiteX1" fmla="*/ 494213 w 2480567"/>
                <a:gd name="connsiteY1" fmla="*/ 0 h 2480569"/>
                <a:gd name="connsiteX2" fmla="*/ 494213 w 2480567"/>
                <a:gd name="connsiteY2" fmla="*/ 1438500 h 2480569"/>
                <a:gd name="connsiteX3" fmla="*/ 1042069 w 2480567"/>
                <a:gd name="connsiteY3" fmla="*/ 1986356 h 2480569"/>
                <a:gd name="connsiteX4" fmla="*/ 2480567 w 2480567"/>
                <a:gd name="connsiteY4" fmla="*/ 1986356 h 2480569"/>
                <a:gd name="connsiteX5" fmla="*/ 1986355 w 2480567"/>
                <a:gd name="connsiteY5" fmla="*/ 2480569 h 2480569"/>
                <a:gd name="connsiteX6" fmla="*/ 547856 w 2480567"/>
                <a:gd name="connsiteY6" fmla="*/ 2480569 h 2480569"/>
                <a:gd name="connsiteX7" fmla="*/ 0 w 2480567"/>
                <a:gd name="connsiteY7" fmla="*/ 1932713 h 248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0567" h="2480569">
                  <a:moveTo>
                    <a:pt x="0" y="494213"/>
                  </a:moveTo>
                  <a:lnTo>
                    <a:pt x="494213" y="0"/>
                  </a:lnTo>
                  <a:lnTo>
                    <a:pt x="494213" y="1438500"/>
                  </a:lnTo>
                  <a:cubicBezTo>
                    <a:pt x="494213" y="1741073"/>
                    <a:pt x="739496" y="1986356"/>
                    <a:pt x="1042069" y="1986356"/>
                  </a:cubicBezTo>
                  <a:lnTo>
                    <a:pt x="2480567" y="1986356"/>
                  </a:lnTo>
                  <a:lnTo>
                    <a:pt x="1986355" y="2480569"/>
                  </a:lnTo>
                  <a:lnTo>
                    <a:pt x="547856" y="2480569"/>
                  </a:lnTo>
                  <a:cubicBezTo>
                    <a:pt x="245283" y="2480569"/>
                    <a:pt x="0" y="2235286"/>
                    <a:pt x="0" y="19327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81963" y="2824554"/>
            <a:ext cx="2028825" cy="84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4840"/>
              </a:lnSpc>
              <a:spcBef>
                <a:spcPts val="400"/>
              </a:spcBef>
              <a:defRPr/>
            </a:pPr>
            <a:r>
              <a:rPr kumimoji="1" lang="en-US" altLang="zh-CN" sz="11000" dirty="0">
                <a:solidFill>
                  <a:schemeClr val="bg1"/>
                </a:solidFill>
                <a:latin typeface="Impact" panose="020B0806030902050204" pitchFamily="34" charset="0"/>
                <a:ea typeface="黑体" panose="02010609060101010101" charset="-122"/>
                <a:cs typeface="Times New Roman" panose="02020603050405020304" pitchFamily="18" charset="0"/>
              </a:rPr>
              <a:t>04</a:t>
            </a:r>
            <a:endParaRPr kumimoji="1" lang="en-US" altLang="zh-CN" sz="11000" dirty="0">
              <a:solidFill>
                <a:schemeClr val="bg1"/>
              </a:solidFill>
              <a:latin typeface="Impact" panose="020B0806030902050204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l="14000" t="17780" r="32114" b="15281"/>
          <a:stretch>
            <a:fillRect/>
          </a:stretch>
        </p:blipFill>
        <p:spPr>
          <a:xfrm>
            <a:off x="5580113" y="1995685"/>
            <a:ext cx="3566158" cy="1508106"/>
          </a:xfrm>
          <a:prstGeom prst="rect">
            <a:avLst/>
          </a:prstGeom>
          <a:solidFill>
            <a:srgbClr val="00B0EC"/>
          </a:solidFill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4"/>
          <p:cNvSpPr txBox="1"/>
          <p:nvPr/>
        </p:nvSpPr>
        <p:spPr>
          <a:xfrm>
            <a:off x="342264" y="222885"/>
            <a:ext cx="610194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b="1">
                <a:solidFill>
                  <a:srgbClr val="00AFE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产品研发部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-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测试工程师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+mn-ea"/>
              </a:rPr>
              <a:t>-</a:t>
            </a:r>
            <a:r>
              <a:rPr lang="zh-CN" altLang="en-US" noProof="0" dirty="0">
                <a:ln>
                  <a:noFill/>
                </a:ln>
                <a:effectLst/>
                <a:uLnTx/>
                <a:uFillTx/>
                <a:sym typeface="+mn-ea"/>
              </a:rPr>
              <a:t>樊鑫宇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需要协调的</a:t>
            </a:r>
            <a:r>
              <a:rPr lang="zh-CN" altLang="en-US" dirty="0">
                <a:sym typeface="+mn-ea"/>
              </a:rPr>
              <a:t>问题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2845" y="1333500"/>
            <a:ext cx="7152005" cy="3621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80000"/>
              </a:lnSpc>
            </a:pPr>
            <a:r>
              <a:rPr lang="zh-CN" altLang="en-US" sz="1600"/>
              <a:t>一、环境稳定性一般，经常出现服务宕机、接口异常，浪费大量测试等待时间，需协调运维优化环境稳定性</a:t>
            </a:r>
            <a:endParaRPr lang="zh-CN" altLang="en-US" sz="1600"/>
          </a:p>
          <a:p>
            <a:pPr>
              <a:lnSpc>
                <a:spcPct val="180000"/>
              </a:lnSpc>
            </a:pPr>
            <a:endParaRPr lang="zh-CN" altLang="en-US" sz="1600"/>
          </a:p>
          <a:p>
            <a:pPr>
              <a:lnSpc>
                <a:spcPct val="180000"/>
              </a:lnSpc>
            </a:pPr>
            <a:r>
              <a:rPr lang="zh-CN" altLang="en-US" sz="1600"/>
              <a:t>二、研发版本提测偶尔不规范，存在 </a:t>
            </a:r>
            <a:r>
              <a:rPr lang="en-US" altLang="zh-CN" sz="1600"/>
              <a:t>bug </a:t>
            </a:r>
            <a:r>
              <a:rPr lang="zh-CN" altLang="en-US" sz="1600"/>
              <a:t>遗留多、未自测完成就提测的情况，反复打回耽误测试进度，希望统一提测准入标准</a:t>
            </a:r>
            <a:endParaRPr lang="zh-CN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00" y="-77964"/>
            <a:ext cx="9369578" cy="530065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6746" y="1995686"/>
            <a:ext cx="9252938" cy="1089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zh-CN" altLang="en-US" sz="5400" dirty="0">
                <a:solidFill>
                  <a:srgbClr val="0068B7"/>
                </a:solidFill>
              </a:rPr>
              <a:t>感谢您的聆听</a:t>
            </a:r>
            <a:endParaRPr lang="zh-CN" altLang="en-US" sz="5400" dirty="0">
              <a:solidFill>
                <a:srgbClr val="0068B7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16016" y="3289737"/>
            <a:ext cx="4691876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主讲人：</a:t>
            </a:r>
            <a:r>
              <a:rPr lang="zh-CN" altLang="en-US" sz="21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樊鑫宇</a:t>
            </a:r>
            <a:endParaRPr lang="zh-CN" altLang="en-US" sz="21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16016" y="3709774"/>
            <a:ext cx="27841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2026</a:t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05</a:t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11</a:t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日</a:t>
            </a:r>
            <a:endParaRPr lang="zh-CN" altLang="en-US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自定义 1">
      <a:majorFont>
        <a:latin typeface="Franklin Gothic Medium"/>
        <a:ea typeface="微软雅黑"/>
        <a:cs typeface=""/>
      </a:majorFont>
      <a:minorFont>
        <a:latin typeface="Franklin Gothic Book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ustom 64">
      <a:dk1>
        <a:srgbClr val="5C5C5C"/>
      </a:dk1>
      <a:lt1>
        <a:srgbClr val="FFFFFF"/>
      </a:lt1>
      <a:dk2>
        <a:srgbClr val="44546A"/>
      </a:dk2>
      <a:lt2>
        <a:srgbClr val="FCFCFC"/>
      </a:lt2>
      <a:accent1>
        <a:srgbClr val="00A39E"/>
      </a:accent1>
      <a:accent2>
        <a:srgbClr val="82B732"/>
      </a:accent2>
      <a:accent3>
        <a:srgbClr val="F39C11"/>
      </a:accent3>
      <a:accent4>
        <a:srgbClr val="E23761"/>
      </a:accent4>
      <a:accent5>
        <a:srgbClr val="3B84B7"/>
      </a:accent5>
      <a:accent6>
        <a:srgbClr val="00B3DC"/>
      </a:accent6>
      <a:hlink>
        <a:srgbClr val="00B3DC"/>
      </a:hlink>
      <a:folHlink>
        <a:srgbClr val="954F72"/>
      </a:folHlink>
    </a:clrScheme>
    <a:fontScheme name="Custom 20">
      <a:majorFont>
        <a:latin typeface="Roboto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4-浅色-办公趣味-多彩">
  <a:themeElements>
    <a:clrScheme name="CLASSIC - Standart Office">
      <a:dk1>
        <a:srgbClr val="44546A"/>
      </a:dk1>
      <a:lt1>
        <a:sysClr val="window" lastClr="FFFFFF"/>
      </a:lt1>
      <a:dk2>
        <a:srgbClr val="8496B0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j4e0due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>
              <a:lumMod val="60000"/>
              <a:lumOff val="40000"/>
            </a:schemeClr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796</Words>
  <Application>WPS 演示</Application>
  <PresentationFormat>全屏显示(16:9)</PresentationFormat>
  <Paragraphs>72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Impact</vt:lpstr>
      <vt:lpstr>微软雅黑</vt:lpstr>
      <vt:lpstr>Calibri</vt:lpstr>
      <vt:lpstr>黑体</vt:lpstr>
      <vt:lpstr>Times New Roman</vt:lpstr>
      <vt:lpstr>思源黑体 CN Medium</vt:lpstr>
      <vt:lpstr>Franklin Gothic Book</vt:lpstr>
      <vt:lpstr>Arial Unicode MS</vt:lpstr>
      <vt:lpstr>Franklin Gothic Medium</vt:lpstr>
      <vt:lpstr>Office 主题​​</vt:lpstr>
      <vt:lpstr>Office Theme</vt:lpstr>
      <vt:lpstr>24-浅色-办公趣味-多彩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あなたは远く</cp:lastModifiedBy>
  <cp:revision>270</cp:revision>
  <dcterms:created xsi:type="dcterms:W3CDTF">2019-12-13T03:11:00Z</dcterms:created>
  <dcterms:modified xsi:type="dcterms:W3CDTF">2026-05-11T01:22:03Z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KSORubyTemplateID">
    <vt:lpwstr>2</vt:lpwstr>
  </property>
  <property fmtid="{D5CDD505-2E9C-101B-9397-08002B2CF9AE}" pid="4" name="ICV">
    <vt:lpwstr>02C4C101A4604E619715A6C710A54A0D_12</vt:lpwstr>
  </property>
</Properties>
</file>